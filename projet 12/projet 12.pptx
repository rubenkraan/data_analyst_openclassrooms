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9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0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4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7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0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1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2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0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9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8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5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7/20/2025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71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6" r:id="rId8"/>
    <p:sldLayoutId id="2147483733" r:id="rId9"/>
    <p:sldLayoutId id="2147483734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644DE9-8D09-43E2-BA69-F57482CFC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3C919-B32E-40FF-B3D8-631316E8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B17B84-F8A7-4053-9C9D-91E3CA7F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88951" cy="6858000"/>
          </a:xfrm>
          <a:prstGeom prst="rect">
            <a:avLst/>
          </a:prstGeom>
          <a:blipFill dpi="0" rotWithShape="1">
            <a:blip r:embed="rId2">
              <a:alphaModFix amt="30000"/>
              <a:lum bright="70000" contrast="-70000"/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C4EFDC-1C6A-4C47-3A31-4C627F32CE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t="6198" r="-1" b="3435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CDB4E80-F949-2130-E99F-8E8E411A9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0211"/>
            <a:ext cx="7530685" cy="3163864"/>
          </a:xfrm>
        </p:spPr>
        <p:txBody>
          <a:bodyPr>
            <a:normAutofit/>
          </a:bodyPr>
          <a:lstStyle/>
          <a:p>
            <a:pPr algn="l"/>
            <a:r>
              <a:rPr lang="fr-FR" sz="5200">
                <a:solidFill>
                  <a:srgbClr val="FFFFFF"/>
                </a:solidFill>
              </a:rPr>
              <a:t>ONCFM</a:t>
            </a:r>
          </a:p>
        </p:txBody>
      </p:sp>
    </p:spTree>
    <p:extLst>
      <p:ext uri="{BB962C8B-B14F-4D97-AF65-F5344CB8AC3E}">
        <p14:creationId xmlns:p14="http://schemas.microsoft.com/office/powerpoint/2010/main" val="190100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A47CA5D-F667-B78B-C621-C65F8C99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fr-FR" dirty="0"/>
              <a:t>La mission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36B0D4-C4A5-1910-57D7-77C4BB8B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anchor="ctr">
            <a:normAutofit/>
          </a:bodyPr>
          <a:lstStyle/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l’ONCFM met en place des méthodes d’identification des faux billets en euros pour lutter contre la contrefaçon. Pour aller plus vite dans cette lutte, nous souhaitons mettre à disposition des équipes une application de machine </a:t>
            </a:r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learning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. Celle-ci leur permettra, après avoir scanné des billets (longueur, hauteur, largeur, etc.), de faire une prédiction sur la nature des billets (vrai billet ou faux billet).</a:t>
            </a:r>
          </a:p>
        </p:txBody>
      </p:sp>
    </p:spTree>
    <p:extLst>
      <p:ext uri="{BB962C8B-B14F-4D97-AF65-F5344CB8AC3E}">
        <p14:creationId xmlns:p14="http://schemas.microsoft.com/office/powerpoint/2010/main" val="186536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9C8783-09B3-B4B0-83D0-A467A870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fr-FR" dirty="0"/>
              <a:t>Dimension </a:t>
            </a:r>
            <a:r>
              <a:rPr lang="fr-FR"/>
              <a:t>Geometriques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EF9EEE-2CDA-EFE3-C84A-DE402E22D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anchor="ctr">
            <a:normAutofit/>
          </a:bodyPr>
          <a:lstStyle/>
          <a:p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length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: la longueur du billet (en mm) ;</a:t>
            </a:r>
          </a:p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height_left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: la hauteur du billet (mesurée sur le côté gauche, en mm) ; </a:t>
            </a:r>
          </a:p>
          <a:p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height_right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: la hauteur du billet (mesurée sur le côté droit, en mm) ; </a:t>
            </a:r>
          </a:p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margin_up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: la marge entre le bord supérieur du billet et l'image de celui-ci (en mm) ; </a:t>
            </a:r>
          </a:p>
          <a:p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margin_low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: la marge entre le bord inférieur du billet et l'image de celui-ci (en mm) ; </a:t>
            </a:r>
          </a:p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diagonal : la diagonale du billet (en mm). </a:t>
            </a:r>
          </a:p>
        </p:txBody>
      </p:sp>
    </p:spTree>
    <p:extLst>
      <p:ext uri="{BB962C8B-B14F-4D97-AF65-F5344CB8AC3E}">
        <p14:creationId xmlns:p14="http://schemas.microsoft.com/office/powerpoint/2010/main" val="134034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ECEE96-EC55-A466-D7C5-7B4E2D593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fr-FR" dirty="0"/>
              <a:t>Demander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5518BE-6F10-DC5E-BE23-7FCB48ACB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anchor="ctr">
            <a:normAutofit/>
          </a:bodyPr>
          <a:lstStyle/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une régression logistique classique ;</a:t>
            </a:r>
          </a:p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un k-</a:t>
            </a:r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means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, duquel seront utilisés les centroïdes pour réaliser la prédiction ; </a:t>
            </a:r>
          </a:p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un KNN ; </a:t>
            </a:r>
          </a:p>
          <a:p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un </a:t>
            </a:r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random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r-FR" sz="1800" dirty="0" err="1">
                <a:solidFill>
                  <a:schemeClr val="tx1">
                    <a:alpha val="80000"/>
                  </a:schemeClr>
                </a:solidFill>
              </a:rPr>
              <a:t>forest</a:t>
            </a:r>
            <a:r>
              <a:rPr lang="fr-FR" sz="18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547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4F77F2-3F5B-3052-FA27-AE1D5321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fr-FR" dirty="0"/>
              <a:t>La data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30F67B-DCFF-358F-AE3B-E2DD6665D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5362"/>
            <a:ext cx="4800600" cy="3552824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1"/>
                </a:solidFill>
              </a:rPr>
              <a:t>1500 billets</a:t>
            </a:r>
          </a:p>
          <a:p>
            <a:r>
              <a:rPr lang="fr-FR" sz="1800">
                <a:solidFill>
                  <a:schemeClr val="tx1"/>
                </a:solidFill>
              </a:rPr>
              <a:t>1000 vrai</a:t>
            </a:r>
          </a:p>
          <a:p>
            <a:r>
              <a:rPr lang="fr-FR" sz="1800">
                <a:solidFill>
                  <a:schemeClr val="tx1"/>
                </a:solidFill>
              </a:rPr>
              <a:t>500 faux</a:t>
            </a:r>
          </a:p>
          <a:p>
            <a:r>
              <a:rPr lang="fr-FR" sz="1800">
                <a:solidFill>
                  <a:schemeClr val="tx1"/>
                </a:solidFill>
              </a:rPr>
              <a:t>Les donner géométriques</a:t>
            </a:r>
          </a:p>
          <a:p>
            <a:endParaRPr lang="fr-FR" sz="180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8319AA-94D0-CDBD-F205-F6D4209B4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369" y="2745362"/>
            <a:ext cx="4584289" cy="3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A29CF-335C-58D1-F929-3C28E78E8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Control de la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6902E4-7775-A25F-7D32-D0B805F7B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Donner manquante pour </a:t>
            </a:r>
            <a:r>
              <a:rPr lang="fr-FR" dirty="0" err="1"/>
              <a:t>margin</a:t>
            </a:r>
            <a:r>
              <a:rPr lang="en-US" dirty="0"/>
              <a:t>_low</a:t>
            </a:r>
          </a:p>
          <a:p>
            <a:r>
              <a:rPr lang="en-US" dirty="0"/>
              <a:t>linear regression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199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B9EF731-3BBA-25FC-75CC-415CC614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5179237" cy="22595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Preparation des donner</a:t>
            </a:r>
            <a:endParaRPr lang="fr-FR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71D161-C38C-57C3-C1CD-A94D1232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562" y="559814"/>
            <a:ext cx="5146083" cy="2259586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Standardization </a:t>
            </a:r>
            <a:endParaRPr lang="fr-FR" sz="1800">
              <a:solidFill>
                <a:schemeClr val="tx2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F864FE2-04D8-94BC-07FB-0D4BE150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012" y="3124200"/>
            <a:ext cx="4241613" cy="31812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3985CE9-4BD3-FAA9-1F45-D54F5DF05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282" y="3124200"/>
            <a:ext cx="4255798" cy="31812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5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4B538A-D3E9-6B50-E530-32B95AFE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heatmap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F3515AC-6148-FF5F-3DCB-3376CC051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88118" y="509847"/>
            <a:ext cx="5599092" cy="49132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86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C3CA35-4E17-E34F-5E0E-BCB282AC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Pair plot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9F86871-305D-DC39-5AD5-D82B1DD93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53238" y="509847"/>
            <a:ext cx="5268851" cy="49132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036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3772C2-0911-45A0-B7B6-D811380C7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72B5A9-5531-4FA5-8C90-295EFED8B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2A47DC-160B-83CD-B673-50F2EADB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744909"/>
            <a:ext cx="10591800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Les models</a:t>
            </a:r>
          </a:p>
        </p:txBody>
      </p:sp>
    </p:spTree>
    <p:extLst>
      <p:ext uri="{BB962C8B-B14F-4D97-AF65-F5344CB8AC3E}">
        <p14:creationId xmlns:p14="http://schemas.microsoft.com/office/powerpoint/2010/main" val="30569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3332FF-BAF1-380F-EC75-7DC969045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Logistic regression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22278F-8E69-6A2C-224E-990C2556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138" y="509847"/>
            <a:ext cx="5849052" cy="491320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60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8952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201" y="0"/>
            <a:ext cx="619386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618141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029903-B073-495E-AA26-CCD55FF0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/>
              <a:t>KNN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67E52F-E3A8-6F4D-C1C6-79CE052B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fr-FR" sz="1800" dirty="0"/>
              <a:t>K-</a:t>
            </a:r>
            <a:r>
              <a:rPr lang="fr-FR" sz="1800" dirty="0" err="1"/>
              <a:t>Nearest</a:t>
            </a:r>
            <a:r>
              <a:rPr lang="fr-FR" sz="1800" dirty="0"/>
              <a:t> Neighbors</a:t>
            </a:r>
          </a:p>
          <a:p>
            <a:endParaRPr lang="fr-FR" sz="18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C50A39-9D59-B96A-C340-671416611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15" b="17640"/>
          <a:stretch>
            <a:fillRect/>
          </a:stretch>
        </p:blipFill>
        <p:spPr>
          <a:xfrm>
            <a:off x="6858001" y="567942"/>
            <a:ext cx="4724400" cy="272815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38539C-8DF6-1551-06FC-BC6E9A31E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25" b="6494"/>
          <a:stretch>
            <a:fillRect/>
          </a:stretch>
        </p:blipFill>
        <p:spPr>
          <a:xfrm>
            <a:off x="6854952" y="3412115"/>
            <a:ext cx="4724400" cy="272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88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805649-8E45-FD22-7B7D-722B12DF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Random forest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F1C46FB-9637-97BF-D2ED-6111D3C83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63138" y="509847"/>
            <a:ext cx="5849052" cy="49132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3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3A550E-E55E-3C22-E3AA-6F10797E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163351"/>
            <a:ext cx="5996619" cy="1979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SVM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49424"/>
            <a:ext cx="12192000" cy="46177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49805"/>
            <a:ext cx="12191999" cy="461772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4BDD0D5-8870-3A15-74B3-995D420D4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33712" y="2667000"/>
            <a:ext cx="4331440" cy="36384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8AFCCE3-B704-D4D9-26A2-01F665765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353" y="2667000"/>
            <a:ext cx="4533844" cy="36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24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7" name="Picture 15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C57656-A01F-4B32-B5C4-D171EDC97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EA49F7-1946-40FE-ACF9-81D0AC97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-1"/>
            <a:ext cx="12191999" cy="342899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7F5A8B-5863-2202-75EF-52E70811B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909"/>
            <a:ext cx="5029200" cy="21506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kmeans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A261466-F4FB-AB48-50D6-DEB1FEBDB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8102" b="-3"/>
          <a:stretch>
            <a:fillRect/>
          </a:stretch>
        </p:blipFill>
        <p:spPr>
          <a:xfrm>
            <a:off x="-6116" y="3431793"/>
            <a:ext cx="4062630" cy="34262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C48067-D608-A5BC-0AD3-AC2B918C0C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96" r="-4" b="-4"/>
          <a:stretch>
            <a:fillRect/>
          </a:stretch>
        </p:blipFill>
        <p:spPr>
          <a:xfrm>
            <a:off x="4056512" y="3431793"/>
            <a:ext cx="4098633" cy="34262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E5CCDA5-3DDF-02B3-2B2C-BF8072960A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19" r="6440" b="-3"/>
          <a:stretch>
            <a:fillRect/>
          </a:stretch>
        </p:blipFill>
        <p:spPr>
          <a:xfrm>
            <a:off x="8128307" y="3429000"/>
            <a:ext cx="406369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13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2C8197-CFF0-9FF7-0541-3DDC2BD6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Best model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06EED8B-2B21-457F-8716-3E890E09F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6557" y="901735"/>
            <a:ext cx="6402214" cy="41294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9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6FC5A-DAAF-C44A-F7BA-2ADBC653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052241-5D42-92C0-6EC2-3CB6410FD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9450"/>
            <a:ext cx="4589678" cy="4195763"/>
          </a:xfrm>
        </p:spPr>
        <p:txBody>
          <a:bodyPr>
            <a:normAutofit fontScale="70000" lnSpcReduction="20000"/>
          </a:bodyPr>
          <a:lstStyle/>
          <a:p>
            <a:r>
              <a:rPr lang="fr-FR" dirty="0" err="1"/>
              <a:t>Voting</a:t>
            </a:r>
            <a:r>
              <a:rPr lang="fr-FR" dirty="0"/>
              <a:t> model</a:t>
            </a:r>
          </a:p>
          <a:p>
            <a:r>
              <a:rPr lang="fr-FR" dirty="0"/>
              <a:t>Elo model</a:t>
            </a:r>
          </a:p>
          <a:p>
            <a:r>
              <a:rPr lang="fr-FR" dirty="0" err="1"/>
              <a:t>Mlp</a:t>
            </a:r>
            <a:r>
              <a:rPr lang="fr-FR" dirty="0"/>
              <a:t> classifier</a:t>
            </a:r>
          </a:p>
          <a:p>
            <a:r>
              <a:rPr lang="fr-FR" dirty="0" err="1"/>
              <a:t>Xgbclassifier</a:t>
            </a:r>
            <a:endParaRPr lang="fr-FR" dirty="0"/>
          </a:p>
          <a:p>
            <a:r>
              <a:rPr lang="fr-FR" dirty="0" err="1"/>
              <a:t>Qda</a:t>
            </a:r>
            <a:endParaRPr lang="fr-FR" dirty="0"/>
          </a:p>
          <a:p>
            <a:r>
              <a:rPr lang="fr-FR" dirty="0" err="1"/>
              <a:t>gaussianNB</a:t>
            </a:r>
            <a:endParaRPr lang="fr-FR" dirty="0"/>
          </a:p>
          <a:p>
            <a:r>
              <a:rPr lang="fr-FR" dirty="0" err="1"/>
              <a:t>Histgradientboostingclassifier</a:t>
            </a:r>
            <a:endParaRPr lang="fr-FR" dirty="0"/>
          </a:p>
          <a:p>
            <a:r>
              <a:rPr lang="fr-FR" dirty="0" err="1"/>
              <a:t>Extratrees</a:t>
            </a:r>
            <a:r>
              <a:rPr lang="fr-FR" dirty="0"/>
              <a:t> classifier</a:t>
            </a:r>
          </a:p>
          <a:p>
            <a:r>
              <a:rPr lang="fr-FR" dirty="0" err="1"/>
              <a:t>Gaussiandprocessclassifier</a:t>
            </a:r>
            <a:endParaRPr lang="fr-FR" dirty="0"/>
          </a:p>
          <a:p>
            <a:r>
              <a:rPr lang="fr-FR" dirty="0" err="1"/>
              <a:t>Ridgeclassifier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242B48-D645-7D65-4E15-5C502DD7516F}"/>
              </a:ext>
            </a:extLst>
          </p:cNvPr>
          <p:cNvSpPr txBox="1"/>
          <p:nvPr/>
        </p:nvSpPr>
        <p:spPr>
          <a:xfrm>
            <a:off x="6817766" y="2033626"/>
            <a:ext cx="48134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Nu </a:t>
            </a: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svc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Decisiontreeclassifier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Bagging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Adaboosclassifier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Lgbm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Catboost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Quadratic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 discriminant </a:t>
            </a: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analysis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Lineardiscriminant</a:t>
            </a: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analysis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Bernoullinb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Passiveaggressiveclassifier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95000"/>
                  </a:schemeClr>
                </a:solidFill>
              </a:rPr>
              <a:t>Perceptron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>
                    <a:lumMod val="95000"/>
                  </a:schemeClr>
                </a:solidFill>
              </a:rPr>
              <a:t>labelpropagation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6638474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285</Words>
  <Application>Microsoft Office PowerPoint</Application>
  <PresentationFormat>Grand écran</PresentationFormat>
  <Paragraphs>58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Avenir Next LT Pro</vt:lpstr>
      <vt:lpstr>AvenirNext LT Pro Medium</vt:lpstr>
      <vt:lpstr>BlockprintVTI</vt:lpstr>
      <vt:lpstr>ONCFM</vt:lpstr>
      <vt:lpstr>La mission</vt:lpstr>
      <vt:lpstr>Dimension Geometriques</vt:lpstr>
      <vt:lpstr>Demander </vt:lpstr>
      <vt:lpstr>La data </vt:lpstr>
      <vt:lpstr>Control de la data</vt:lpstr>
      <vt:lpstr>Preparation des donner</vt:lpstr>
      <vt:lpstr>heatmap</vt:lpstr>
      <vt:lpstr>Pair plot </vt:lpstr>
      <vt:lpstr>Les models</vt:lpstr>
      <vt:lpstr>Logistic regression</vt:lpstr>
      <vt:lpstr>KNN</vt:lpstr>
      <vt:lpstr>Random forest</vt:lpstr>
      <vt:lpstr>SVM</vt:lpstr>
      <vt:lpstr>kmeans</vt:lpstr>
      <vt:lpstr>Best model</vt:lpstr>
      <vt:lpstr>Other models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Kraan</dc:creator>
  <cp:lastModifiedBy>Ruben Kraan</cp:lastModifiedBy>
  <cp:revision>2</cp:revision>
  <dcterms:created xsi:type="dcterms:W3CDTF">2025-07-20T09:37:44Z</dcterms:created>
  <dcterms:modified xsi:type="dcterms:W3CDTF">2025-07-20T10:52:29Z</dcterms:modified>
</cp:coreProperties>
</file>